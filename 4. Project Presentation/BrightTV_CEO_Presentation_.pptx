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FF6B57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1F5F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Gauteng</c:v>
                </c:pt>
                <c:pt idx="1">
                  <c:v>W. Cape</c:v>
                </c:pt>
                <c:pt idx="2">
                  <c:v>KZN</c:v>
                </c:pt>
                <c:pt idx="3">
                  <c:v>Mpumalanga</c:v>
                </c:pt>
                <c:pt idx="4">
                  <c:v>Limpopo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37.5</c:v>
                </c:pt>
                <c:pt idx="1">
                  <c:v>18.899999999999999</c:v>
                </c:pt>
                <c:pt idx="2">
                  <c:v>10.3</c:v>
                </c:pt>
                <c:pt idx="3">
                  <c:v>9.4</c:v>
                </c:pt>
                <c:pt idx="4">
                  <c:v>7.8</c:v>
                </c:pt>
                <c:pt idx="5">
                  <c:v>16.100000000000001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A4-4321-A8E1-4511606CEA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A335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C0D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majorGridlines>
          <c:spPr>
            <a:ln w="6350" cap="flat">
              <a:solidFill>
                <a:srgbClr val="2A33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A335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141A2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A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57"/>
              </a:solidFill>
              <a:ln w="9525" cap="flat">
                <a:solidFill>
                  <a:srgbClr val="141A2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AB17-4AAA-9F43-7199C6947F49}"/>
              </c:ext>
            </c:extLst>
          </c:dPt>
          <c:dPt>
            <c:idx val="1"/>
            <c:bubble3D val="0"/>
            <c:spPr>
              <a:solidFill>
                <a:srgbClr val="F5C26B"/>
              </a:solidFill>
              <a:ln w="9525" cap="flat">
                <a:solidFill>
                  <a:srgbClr val="141A2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AB17-4AAA-9F43-7199C6947F49}"/>
              </c:ext>
            </c:extLst>
          </c:dPt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B17-4AAA-9F43-7199C6947F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solidFill>
          <a:srgbClr val="141A2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A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ln w="38100" cap="flat">
              <a:solidFill>
                <a:srgbClr val="FF6B57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FF6B57"/>
              </a:solidFill>
              <a:ln w="12700" cap="flat">
                <a:solidFill>
                  <a:srgbClr val="FF6B57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00</c:v>
                </c:pt>
                <c:pt idx="1">
                  <c:v>02</c:v>
                </c:pt>
                <c:pt idx="2">
                  <c:v>04</c:v>
                </c:pt>
                <c:pt idx="3">
                  <c:v>06</c:v>
                </c:pt>
                <c:pt idx="4">
                  <c:v>08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8</c:v>
                </c:pt>
                <c:pt idx="2">
                  <c:v>28</c:v>
                </c:pt>
                <c:pt idx="3">
                  <c:v>62</c:v>
                </c:pt>
                <c:pt idx="4">
                  <c:v>83</c:v>
                </c:pt>
                <c:pt idx="5">
                  <c:v>88</c:v>
                </c:pt>
                <c:pt idx="6">
                  <c:v>96</c:v>
                </c:pt>
                <c:pt idx="7">
                  <c:v>97</c:v>
                </c:pt>
                <c:pt idx="8">
                  <c:v>100</c:v>
                </c:pt>
                <c:pt idx="9">
                  <c:v>96</c:v>
                </c:pt>
                <c:pt idx="10">
                  <c:v>90</c:v>
                </c:pt>
                <c:pt idx="11">
                  <c:v>28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B11-47BB-8238-293380E736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35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C0D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2A33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335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141A2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00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58FF-65AE-E563-23B5-AD4921D8A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69ABE-4C77-8875-549C-EC8BE8336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3E8D6-9950-D255-11A7-A4915F5EF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78EC2-DA94-FB2D-E99F-8CA68D94EC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32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0"/>
            <a:ext cx="61539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035040" y="0"/>
            <a:ext cx="1463040" cy="6858000"/>
          </a:xfrm>
          <a:prstGeom prst="rect">
            <a:avLst/>
          </a:prstGeom>
          <a:solidFill>
            <a:srgbClr val="0A0E1A">
              <a:alpha val="6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2468880"/>
            <a:ext cx="91440" cy="13716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233172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Growing the</a:t>
            </a:r>
            <a:endParaRPr lang="en-US" sz="5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</a:t>
            </a:r>
            <a:endParaRPr lang="en-US" sz="5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960120" y="4937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roadmap for the financial year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60120" y="5852160"/>
            <a:ext cx="548640" cy="0"/>
          </a:xfrm>
          <a:prstGeom prst="line">
            <a:avLst/>
          </a:prstGeom>
          <a:noFill/>
          <a:ln w="19050">
            <a:solidFill>
              <a:srgbClr val="FF6B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Presentation  ·  Q1 2016  ·  10k sessions · 4.4k subs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9F63A-C113-C722-CE5C-6F4A13B4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A992F7-4010-6702-F8CD-98269CD75F6F}"/>
              </a:ext>
            </a:extLst>
          </p:cNvPr>
          <p:cNvSpPr/>
          <p:nvPr/>
        </p:nvSpPr>
        <p:spPr>
          <a:xfrm>
            <a:off x="365760" y="502920"/>
            <a:ext cx="54864" cy="50292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EC3D3A-871E-C8A1-50D6-E93730ADA6B9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01  ·  Global View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998D01-E16E-3328-B6E4-74C8C2CB85E0}"/>
              </a:ext>
            </a:extLst>
          </p:cNvPr>
          <p:cNvSpPr/>
          <p:nvPr/>
        </p:nvSpPr>
        <p:spPr>
          <a:xfrm>
            <a:off x="548640" y="640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Snapshot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2C8FB40-0C39-DA76-AA9A-E6168B831027}"/>
              </a:ext>
            </a:extLst>
          </p:cNvPr>
          <p:cNvSpPr/>
          <p:nvPr/>
        </p:nvSpPr>
        <p:spPr>
          <a:xfrm>
            <a:off x="365760" y="11887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863E0F3-D205-E49B-4AE4-28C3442A6BC5}"/>
              </a:ext>
            </a:extLst>
          </p:cNvPr>
          <p:cNvSpPr/>
          <p:nvPr/>
        </p:nvSpPr>
        <p:spPr>
          <a:xfrm>
            <a:off x="356616" y="1484175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8867A5D-FE52-0EBA-D1A1-0EF2D234D727}"/>
              </a:ext>
            </a:extLst>
          </p:cNvPr>
          <p:cNvSpPr/>
          <p:nvPr/>
        </p:nvSpPr>
        <p:spPr>
          <a:xfrm>
            <a:off x="356616" y="1526703"/>
            <a:ext cx="3703320" cy="73152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336A41B-31DF-8A64-6D07-5EB6325D8655}"/>
              </a:ext>
            </a:extLst>
          </p:cNvPr>
          <p:cNvSpPr/>
          <p:nvPr/>
        </p:nvSpPr>
        <p:spPr>
          <a:xfrm>
            <a:off x="630936" y="2286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i="1" dirty="0">
                <a:solidFill>
                  <a:schemeClr val="bg1"/>
                </a:solidFill>
              </a:rPr>
              <a:t>5,375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653C449-E183-8545-CACE-4BFD3527574B}"/>
              </a:ext>
            </a:extLst>
          </p:cNvPr>
          <p:cNvSpPr/>
          <p:nvPr/>
        </p:nvSpPr>
        <p:spPr>
          <a:xfrm>
            <a:off x="630936" y="2834640"/>
            <a:ext cx="457200" cy="0"/>
          </a:xfrm>
          <a:prstGeom prst="line">
            <a:avLst/>
          </a:prstGeom>
          <a:noFill/>
          <a:ln w="12700">
            <a:solidFill>
              <a:srgbClr val="FF6B57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9CBB748-FA5F-29C5-B8E1-098D60A09EED}"/>
              </a:ext>
            </a:extLst>
          </p:cNvPr>
          <p:cNvSpPr/>
          <p:nvPr/>
        </p:nvSpPr>
        <p:spPr>
          <a:xfrm>
            <a:off x="630936" y="33375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2016 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E7F6F00-892B-2A9D-E7DB-BBF92C1FB218}"/>
              </a:ext>
            </a:extLst>
          </p:cNvPr>
          <p:cNvSpPr/>
          <p:nvPr/>
        </p:nvSpPr>
        <p:spPr>
          <a:xfrm>
            <a:off x="4231386" y="1471306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1B8BA9D-5B14-AC9D-CCC9-2D4EE96AA263}"/>
              </a:ext>
            </a:extLst>
          </p:cNvPr>
          <p:cNvSpPr/>
          <p:nvPr/>
        </p:nvSpPr>
        <p:spPr>
          <a:xfrm>
            <a:off x="4517136" y="29260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52A9E06-EA04-960D-D317-5AD11069CC23}"/>
              </a:ext>
            </a:extLst>
          </p:cNvPr>
          <p:cNvSpPr/>
          <p:nvPr/>
        </p:nvSpPr>
        <p:spPr>
          <a:xfrm>
            <a:off x="8129016" y="150876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3335A00-48C5-A5F7-DADF-A8AFCC95C52E}"/>
              </a:ext>
            </a:extLst>
          </p:cNvPr>
          <p:cNvSpPr/>
          <p:nvPr/>
        </p:nvSpPr>
        <p:spPr>
          <a:xfrm>
            <a:off x="8403336" y="29260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42025148-29BC-261D-7C32-A826460B223B}"/>
              </a:ext>
            </a:extLst>
          </p:cNvPr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04E3D0B-DE5E-BE65-BE4A-DDE8BC6A646E}"/>
              </a:ext>
            </a:extLst>
          </p:cNvPr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CEO Presentation  •  Growing Subscription Base</a:t>
            </a:r>
            <a:endParaRPr lang="en-US" sz="10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B153E297-DE93-32CA-70CA-05207F79B78B}"/>
              </a:ext>
            </a:extLst>
          </p:cNvPr>
          <p:cNvSpPr/>
          <p:nvPr/>
        </p:nvSpPr>
        <p:spPr>
          <a:xfrm>
            <a:off x="1109167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7AAC0DA8-4005-6C0A-BD9B-F0278BBDEA97}"/>
              </a:ext>
            </a:extLst>
          </p:cNvPr>
          <p:cNvSpPr/>
          <p:nvPr/>
        </p:nvSpPr>
        <p:spPr>
          <a:xfrm>
            <a:off x="621792" y="2911847"/>
            <a:ext cx="2876564" cy="4571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SUSCRIBERS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7BB60FAF-1BAF-77AA-2CA7-1D5DF6848EFB}"/>
              </a:ext>
            </a:extLst>
          </p:cNvPr>
          <p:cNvSpPr/>
          <p:nvPr/>
        </p:nvSpPr>
        <p:spPr>
          <a:xfrm>
            <a:off x="4242816" y="1526703"/>
            <a:ext cx="3703320" cy="73152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11DDCB99-F019-794A-0D2A-56DB70715D72}"/>
              </a:ext>
            </a:extLst>
          </p:cNvPr>
          <p:cNvSpPr/>
          <p:nvPr/>
        </p:nvSpPr>
        <p:spPr>
          <a:xfrm>
            <a:off x="8119872" y="1515230"/>
            <a:ext cx="3703320" cy="73152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2B92107E-6D40-153D-CE33-A39BB7D33D9C}"/>
              </a:ext>
            </a:extLst>
          </p:cNvPr>
          <p:cNvSpPr/>
          <p:nvPr/>
        </p:nvSpPr>
        <p:spPr>
          <a:xfrm>
            <a:off x="4517136" y="2948943"/>
            <a:ext cx="2876564" cy="342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Sessions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67F288EA-A13F-F37D-76D7-7FF0CC347895}"/>
              </a:ext>
            </a:extLst>
          </p:cNvPr>
          <p:cNvSpPr/>
          <p:nvPr/>
        </p:nvSpPr>
        <p:spPr>
          <a:xfrm>
            <a:off x="4412756" y="3307867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Logged in quarter</a:t>
            </a:r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324BB88C-970B-06F5-A279-BB342BFFEEE7}"/>
              </a:ext>
            </a:extLst>
          </p:cNvPr>
          <p:cNvSpPr/>
          <p:nvPr/>
        </p:nvSpPr>
        <p:spPr>
          <a:xfrm>
            <a:off x="8412480" y="33394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</a:t>
            </a:r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676099CA-B649-2C53-CC81-F7C9789D8E69}"/>
              </a:ext>
            </a:extLst>
          </p:cNvPr>
          <p:cNvSpPr/>
          <p:nvPr/>
        </p:nvSpPr>
        <p:spPr>
          <a:xfrm>
            <a:off x="4517136" y="2302534"/>
            <a:ext cx="3154680" cy="486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i="1" dirty="0">
                <a:solidFill>
                  <a:schemeClr val="bg1"/>
                </a:solidFill>
              </a:rPr>
              <a:t>10 000</a:t>
            </a:r>
          </a:p>
        </p:txBody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FB187EC0-EF49-BF39-F123-26926FE89AEB}"/>
              </a:ext>
            </a:extLst>
          </p:cNvPr>
          <p:cNvSpPr/>
          <p:nvPr/>
        </p:nvSpPr>
        <p:spPr>
          <a:xfrm>
            <a:off x="4608576" y="2834640"/>
            <a:ext cx="457200" cy="0"/>
          </a:xfrm>
          <a:prstGeom prst="line">
            <a:avLst/>
          </a:prstGeom>
          <a:noFill/>
          <a:ln w="12700">
            <a:solidFill>
              <a:srgbClr val="FF6B57"/>
            </a:solidFill>
            <a:prstDash val="solid"/>
          </a:ln>
        </p:spPr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AA0CFF26-6E89-6328-4632-FBA49AF4B882}"/>
              </a:ext>
            </a:extLst>
          </p:cNvPr>
          <p:cNvSpPr/>
          <p:nvPr/>
        </p:nvSpPr>
        <p:spPr>
          <a:xfrm>
            <a:off x="8403336" y="2834640"/>
            <a:ext cx="457200" cy="0"/>
          </a:xfrm>
          <a:prstGeom prst="line">
            <a:avLst/>
          </a:prstGeom>
          <a:noFill/>
          <a:ln w="12700">
            <a:solidFill>
              <a:srgbClr val="FF6B57"/>
            </a:solidFill>
            <a:prstDash val="solid"/>
          </a:ln>
        </p:spPr>
      </p:sp>
      <p:sp>
        <p:nvSpPr>
          <p:cNvPr id="53" name="Text 7">
            <a:extLst>
              <a:ext uri="{FF2B5EF4-FFF2-40B4-BE49-F238E27FC236}">
                <a16:creationId xmlns:a16="http://schemas.microsoft.com/office/drawing/2014/main" id="{B56D6CBB-AAEE-734C-3017-C0D32E64A99C}"/>
              </a:ext>
            </a:extLst>
          </p:cNvPr>
          <p:cNvSpPr/>
          <p:nvPr/>
        </p:nvSpPr>
        <p:spPr>
          <a:xfrm>
            <a:off x="8499348" y="2325393"/>
            <a:ext cx="3154680" cy="486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i="1" dirty="0">
                <a:solidFill>
                  <a:schemeClr val="bg1"/>
                </a:solidFill>
              </a:rPr>
              <a:t>21 </a:t>
            </a:r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0581DE40-68A5-2DD2-813C-4A5D379D3886}"/>
              </a:ext>
            </a:extLst>
          </p:cNvPr>
          <p:cNvSpPr/>
          <p:nvPr/>
        </p:nvSpPr>
        <p:spPr>
          <a:xfrm>
            <a:off x="8394192" y="3023854"/>
            <a:ext cx="2876564" cy="342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Channels</a:t>
            </a:r>
            <a:endParaRPr lang="en-US" sz="1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920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" cy="50292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 · 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632704" cy="4846320"/>
          </a:xfrm>
          <a:prstGeom prst="roundRect">
            <a:avLst>
              <a:gd name="adj" fmla="val 1887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4901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548640" cy="0"/>
          </a:xfrm>
          <a:prstGeom prst="line">
            <a:avLst/>
          </a:prstGeom>
          <a:noFill/>
          <a:ln w="19050">
            <a:solidFill>
              <a:srgbClr val="FF6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77440"/>
            <a:ext cx="490118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sports &amp; music drive peaks
</a:t>
            </a: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Live, ICC Cricket and Channel O lead consumption.
</a:t>
            </a:r>
            <a:r>
              <a:rPr lang="en-US" sz="14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
</a:t>
            </a: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&amp; Western Cape dominate; other provinces underserved.
</a:t>
            </a:r>
            <a:r>
              <a:rPr lang="en-US" sz="14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 per session
</a:t>
            </a: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~38% of sessions &lt;1 min; median 1m 48s — heavy surfing.
</a:t>
            </a:r>
            <a:r>
              <a:rPr lang="en-US" sz="14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profiles
</a:t>
            </a: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~2.6% of records lack demographics — minor but addressable.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81928" y="1508760"/>
            <a:ext cx="5632704" cy="4846320"/>
          </a:xfrm>
          <a:prstGeom prst="roundRect">
            <a:avLst>
              <a:gd name="adj" fmla="val 1887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7688" y="1783080"/>
            <a:ext cx="4901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47688" y="2148840"/>
            <a:ext cx="548640" cy="0"/>
          </a:xfrm>
          <a:prstGeom prst="line">
            <a:avLst/>
          </a:prstGeom>
          <a:noFill/>
          <a:ln w="19050">
            <a:solidFill>
              <a:srgbClr val="F5C2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2377440"/>
            <a:ext cx="490118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underserved provinces
</a:t>
            </a: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Localised content &amp; promotions in Limpopo, Mpumalanga, NC, FS.
</a:t>
            </a:r>
            <a:r>
              <a:rPr lang="en-US" sz="14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female viewership
</a:t>
            </a: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lifestyle &amp; drama; partner with female influencers.
</a:t>
            </a:r>
            <a:r>
              <a:rPr lang="en-US" sz="14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live sports events
</a:t>
            </a: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marquee events as the primary acquisition driver.
</a:t>
            </a:r>
            <a:r>
              <a:rPr lang="en-US" sz="14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overnight window
</a:t>
            </a: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00:00–05:00 is &lt;10% of peak — late-night sports &amp; catch-up.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CEO Presentation  •  Growing Subscription Base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9167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" cy="50292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 ·  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Profile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3840480" cy="4846320"/>
          </a:xfrm>
          <a:prstGeom prst="roundRect">
            <a:avLst>
              <a:gd name="adj" fmla="val 2381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645920"/>
            <a:ext cx="3566160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892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WATCHING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5166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Today: 26–35, urban, heavily male.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5669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Untapped: women (90% gap), rural provinces, seniors.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26280" y="1508760"/>
            <a:ext cx="3840480" cy="4846320"/>
          </a:xfrm>
          <a:prstGeom prst="roundRect">
            <a:avLst>
              <a:gd name="adj" fmla="val 2381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737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PROVINCES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0060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of viewers</a:t>
            </a:r>
            <a:endParaRPr lang="en-US" sz="16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709160" y="2468880"/>
          <a:ext cx="34747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Shape 11"/>
          <p:cNvSpPr/>
          <p:nvPr/>
        </p:nvSpPr>
        <p:spPr>
          <a:xfrm>
            <a:off x="8595360" y="1508760"/>
            <a:ext cx="3136392" cy="2788920"/>
          </a:xfrm>
          <a:prstGeom prst="roundRect">
            <a:avLst>
              <a:gd name="adj" fmla="val 3279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869680" y="173736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000" dirty="0"/>
          </a:p>
        </p:txBody>
      </p:sp>
      <p:graphicFrame>
        <p:nvGraphicFramePr>
          <p:cNvPr id="17" name="Chart 1"/>
          <p:cNvGraphicFramePr/>
          <p:nvPr/>
        </p:nvGraphicFramePr>
        <p:xfrm>
          <a:off x="8778240" y="2057400"/>
          <a:ext cx="2770632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Text 13"/>
          <p:cNvSpPr/>
          <p:nvPr/>
        </p:nvSpPr>
        <p:spPr>
          <a:xfrm>
            <a:off x="8778240" y="2743200"/>
            <a:ext cx="2770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8778240" y="3136392"/>
            <a:ext cx="277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52560" y="3886200"/>
            <a:ext cx="137160" cy="13716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23544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90%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10287000" y="3886200"/>
            <a:ext cx="137160" cy="13716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469880" y="3794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10%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595360" y="4462272"/>
            <a:ext cx="3136392" cy="960120"/>
          </a:xfrm>
          <a:prstGeom prst="roundRect">
            <a:avLst>
              <a:gd name="adj" fmla="val 9524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595360" y="4462272"/>
            <a:ext cx="73152" cy="96012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823960" y="4572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26–35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10287000" y="4626864"/>
            <a:ext cx="1307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active age group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by 18–25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8595360" y="5513832"/>
            <a:ext cx="3136392" cy="960120"/>
          </a:xfrm>
          <a:prstGeom prst="roundRect">
            <a:avLst>
              <a:gd name="adj" fmla="val 9524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595360" y="5513832"/>
            <a:ext cx="73152" cy="960120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823960" y="5623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2.6%</a:t>
            </a:r>
            <a:endParaRPr lang="en-US" sz="2400" dirty="0"/>
          </a:p>
        </p:txBody>
      </p:sp>
      <p:sp>
        <p:nvSpPr>
          <p:cNvPr id="31" name="Text 26"/>
          <p:cNvSpPr/>
          <p:nvPr/>
        </p:nvSpPr>
        <p:spPr>
          <a:xfrm>
            <a:off x="10287000" y="5678424"/>
            <a:ext cx="1307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profiles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age / gender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CEO Presentation  •  Growing Subscription Base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1109167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" cy="50292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 ·  BEHAVIOUR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Usage Trends — When &amp; What They Watch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6949440" cy="3108960"/>
          </a:xfrm>
          <a:prstGeom prst="roundRect">
            <a:avLst>
              <a:gd name="adj" fmla="val 2941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BY HOUR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sessions, SA local time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40080" y="2286000"/>
          <a:ext cx="65836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543800" y="1508760"/>
            <a:ext cx="4187952" cy="3108960"/>
          </a:xfrm>
          <a:prstGeom prst="roundRect">
            <a:avLst>
              <a:gd name="adj" fmla="val 2941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1691640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CHANNELS BY SESSIONS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8181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29600" y="2084832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Events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0" y="230428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8181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229600" y="2542032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World Cup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0" y="276148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8181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229600" y="2999232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0" y="321868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8181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229600" y="3456432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TV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0" y="367588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· Urban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81812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229600" y="3913632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Blitz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413308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highlights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3803904" cy="1600200"/>
          </a:xfrm>
          <a:prstGeom prst="roundRect">
            <a:avLst>
              <a:gd name="adj" fmla="val 5714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4754880"/>
            <a:ext cx="73152" cy="16002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" y="491947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31520" y="5212080"/>
            <a:ext cx="3346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12:00 – 20:00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31520" y="5715000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sustained 10:00–20:00; peak 15:00–17:00.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425696" y="4754880"/>
            <a:ext cx="3803904" cy="1600200"/>
          </a:xfrm>
          <a:prstGeom prst="roundRect">
            <a:avLst>
              <a:gd name="adj" fmla="val 5714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25696" y="4754880"/>
            <a:ext cx="73152" cy="16002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0016" y="491947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DAYS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700016" y="5212080"/>
            <a:ext cx="3346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 &amp; Sun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700016" y="5715000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vs weekdays. Wednesday is the lowest weekday.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394192" y="4754880"/>
            <a:ext cx="3803904" cy="1600200"/>
          </a:xfrm>
          <a:prstGeom prst="roundRect">
            <a:avLst>
              <a:gd name="adj" fmla="val 5714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394192" y="4754880"/>
            <a:ext cx="73152" cy="1600200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668512" y="491947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LENGTH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668512" y="5212080"/>
            <a:ext cx="3346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 2 min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8668512" y="5715000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of sessions &lt;1 min. Live sports drives multi-hour outliers.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CEO Presentation  •  Growing Subscription Base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1109167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" cy="50292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 ·  DRIVERS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Factors Influencing Consumption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7863840" cy="457200"/>
          </a:xfrm>
          <a:prstGeom prst="rect">
            <a:avLst/>
          </a:prstGeom>
          <a:solidFill>
            <a:srgbClr val="1C2440"/>
          </a:solidFill>
          <a:ln w="6350">
            <a:solidFill>
              <a:srgbClr val="2A33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7863840" cy="640080"/>
          </a:xfrm>
          <a:prstGeom prst="rect">
            <a:avLst/>
          </a:prstGeom>
          <a:solidFill>
            <a:srgbClr val="141A2E"/>
          </a:solidFill>
          <a:ln w="5080">
            <a:solidFill>
              <a:srgbClr val="2A33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65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19659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2221992"/>
            <a:ext cx="118872" cy="118872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2221992"/>
            <a:ext cx="118872" cy="118872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95344" y="2221992"/>
            <a:ext cx="118872" cy="118872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59936" y="2221992"/>
            <a:ext cx="118872" cy="118872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24528" y="2221992"/>
            <a:ext cx="118872" cy="118872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965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World Cup sessions exceed 2 hours.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7863840" cy="640080"/>
          </a:xfrm>
          <a:prstGeom prst="rect">
            <a:avLst/>
          </a:prstGeom>
          <a:solidFill>
            <a:srgbClr val="0A0E1A"/>
          </a:solidFill>
          <a:ln w="5080">
            <a:solidFill>
              <a:srgbClr val="2A33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14600" y="26060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66160" y="2862072"/>
            <a:ext cx="118872" cy="118872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30752" y="2862072"/>
            <a:ext cx="118872" cy="118872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95344" y="2862072"/>
            <a:ext cx="118872" cy="118872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59936" y="2862072"/>
            <a:ext cx="118872" cy="118872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24528" y="2862072"/>
            <a:ext cx="118872" cy="118872"/>
          </a:xfrm>
          <a:prstGeom prst="ellipse">
            <a:avLst/>
          </a:prstGeom>
          <a:solidFill>
            <a:srgbClr val="2A3354"/>
          </a:solidFill>
          <a:ln w="12700">
            <a:solidFill>
              <a:srgbClr val="2A33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606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12:00–20:00; peak 15:00–17:00.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7863840" cy="640080"/>
          </a:xfrm>
          <a:prstGeom prst="rect">
            <a:avLst/>
          </a:prstGeom>
          <a:solidFill>
            <a:srgbClr val="141A2E"/>
          </a:solidFill>
          <a:ln w="5080">
            <a:solidFill>
              <a:srgbClr val="2A33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246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14600" y="32461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66160" y="3502152"/>
            <a:ext cx="118872" cy="118872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30752" y="3502152"/>
            <a:ext cx="118872" cy="118872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95344" y="3502152"/>
            <a:ext cx="118872" cy="118872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59936" y="3502152"/>
            <a:ext cx="118872" cy="118872"/>
          </a:xfrm>
          <a:prstGeom prst="ellipse">
            <a:avLst/>
          </a:prstGeom>
          <a:solidFill>
            <a:srgbClr val="2A3354"/>
          </a:solidFill>
          <a:ln w="12700">
            <a:solidFill>
              <a:srgbClr val="2A335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24528" y="3502152"/>
            <a:ext cx="118872" cy="118872"/>
          </a:xfrm>
          <a:prstGeom prst="ellipse">
            <a:avLst/>
          </a:prstGeom>
          <a:solidFill>
            <a:srgbClr val="2A3354"/>
          </a:solidFill>
          <a:ln w="12700">
            <a:solidFill>
              <a:srgbClr val="2A33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246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consumption ~30% higher than weekdays.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3886200"/>
            <a:ext cx="7863840" cy="640080"/>
          </a:xfrm>
          <a:prstGeom prst="rect">
            <a:avLst/>
          </a:prstGeom>
          <a:solidFill>
            <a:srgbClr val="0A0E1A"/>
          </a:solidFill>
          <a:ln w="5080">
            <a:solidFill>
              <a:srgbClr val="2A33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3886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514600" y="38862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66160" y="4142232"/>
            <a:ext cx="118872" cy="118872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30752" y="4142232"/>
            <a:ext cx="118872" cy="118872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95344" y="4142232"/>
            <a:ext cx="118872" cy="118872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59936" y="4142232"/>
            <a:ext cx="118872" cy="118872"/>
          </a:xfrm>
          <a:prstGeom prst="ellipse">
            <a:avLst/>
          </a:prstGeom>
          <a:solidFill>
            <a:srgbClr val="2A3354"/>
          </a:solidFill>
          <a:ln w="12700">
            <a:solidFill>
              <a:srgbClr val="2A335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24528" y="4142232"/>
            <a:ext cx="118872" cy="118872"/>
          </a:xfrm>
          <a:prstGeom prst="ellipse">
            <a:avLst/>
          </a:prstGeom>
          <a:solidFill>
            <a:srgbClr val="2A3354"/>
          </a:solidFill>
          <a:ln w="12700">
            <a:solidFill>
              <a:srgbClr val="2A33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3886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drive cartoons; adults drive sports &amp; news.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4526280"/>
            <a:ext cx="7863840" cy="640080"/>
          </a:xfrm>
          <a:prstGeom prst="rect">
            <a:avLst/>
          </a:prstGeom>
          <a:solidFill>
            <a:srgbClr val="141A2E"/>
          </a:solidFill>
          <a:ln w="5080">
            <a:solidFill>
              <a:srgbClr val="2A335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4526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514600" y="45262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566160" y="4782312"/>
            <a:ext cx="118872" cy="118872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30752" y="4782312"/>
            <a:ext cx="118872" cy="118872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95344" y="4782312"/>
            <a:ext cx="118872" cy="118872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59936" y="4782312"/>
            <a:ext cx="118872" cy="118872"/>
          </a:xfrm>
          <a:prstGeom prst="ellipse">
            <a:avLst/>
          </a:prstGeom>
          <a:solidFill>
            <a:srgbClr val="2A3354"/>
          </a:solidFill>
          <a:ln w="12700">
            <a:solidFill>
              <a:srgbClr val="2A335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24528" y="4782312"/>
            <a:ext cx="118872" cy="118872"/>
          </a:xfrm>
          <a:prstGeom prst="ellipse">
            <a:avLst/>
          </a:prstGeom>
          <a:solidFill>
            <a:srgbClr val="2A3354"/>
          </a:solidFill>
          <a:ln w="12700">
            <a:solidFill>
              <a:srgbClr val="2A335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4526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skews sports; rural skews entertainment.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5166360"/>
            <a:ext cx="7863840" cy="640080"/>
          </a:xfrm>
          <a:prstGeom prst="rect">
            <a:avLst/>
          </a:prstGeom>
          <a:solidFill>
            <a:srgbClr val="0A0E1A"/>
          </a:solidFill>
          <a:ln w="5080">
            <a:solidFill>
              <a:srgbClr val="2A335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" y="5166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2514600" y="51663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566160" y="5422392"/>
            <a:ext cx="118872" cy="118872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30752" y="5422392"/>
            <a:ext cx="118872" cy="118872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895344" y="5422392"/>
            <a:ext cx="118872" cy="118872"/>
          </a:xfrm>
          <a:prstGeom prst="ellipse">
            <a:avLst/>
          </a:prstGeom>
          <a:solidFill>
            <a:srgbClr val="2A3354"/>
          </a:solidFill>
          <a:ln w="12700">
            <a:solidFill>
              <a:srgbClr val="2A335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59936" y="5422392"/>
            <a:ext cx="118872" cy="118872"/>
          </a:xfrm>
          <a:prstGeom prst="ellipse">
            <a:avLst/>
          </a:prstGeom>
          <a:solidFill>
            <a:srgbClr val="2A3354"/>
          </a:solidFill>
          <a:ln w="12700">
            <a:solidFill>
              <a:srgbClr val="2A335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24528" y="5422392"/>
            <a:ext cx="118872" cy="118872"/>
          </a:xfrm>
          <a:prstGeom prst="ellipse">
            <a:avLst/>
          </a:prstGeom>
          <a:solidFill>
            <a:srgbClr val="2A3354"/>
          </a:solidFill>
          <a:ln w="12700">
            <a:solidFill>
              <a:srgbClr val="2A335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0" y="5166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sessions short — content discovery is weak.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503920" y="1508760"/>
            <a:ext cx="3246120" cy="4297680"/>
          </a:xfrm>
          <a:prstGeom prst="roundRect">
            <a:avLst>
              <a:gd name="adj" fmla="val 2817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pic>
        <p:nvPicPr>
          <p:cNvPr id="6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41080" y="1645920"/>
            <a:ext cx="2971800" cy="1645920"/>
          </a:xfrm>
          <a:prstGeom prst="rect">
            <a:avLst/>
          </a:prstGeom>
        </p:spPr>
      </p:pic>
      <p:sp>
        <p:nvSpPr>
          <p:cNvPr id="66" name="Text 63"/>
          <p:cNvSpPr/>
          <p:nvPr/>
        </p:nvSpPr>
        <p:spPr>
          <a:xfrm>
            <a:off x="8778240" y="33832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8778240" y="370332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Event-driven consumption is the strongest lever.</a:t>
            </a:r>
            <a:endParaRPr lang="en-US" sz="1700" dirty="0"/>
          </a:p>
        </p:txBody>
      </p:sp>
      <p:sp>
        <p:nvSpPr>
          <p:cNvPr id="68" name="Text 65"/>
          <p:cNvSpPr/>
          <p:nvPr/>
        </p:nvSpPr>
        <p:spPr>
          <a:xfrm>
            <a:off x="8778240" y="434340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tune in for live, exclusive content. Acquire rights, package premium, and market each event as a moment.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CEO Presentation  •  Growing Subscription Base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1109167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" cy="50292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 ·  00:00 – 05:00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Capturing the Overnight Window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7772400" cy="502920"/>
          </a:xfrm>
          <a:prstGeom prst="rect">
            <a:avLst/>
          </a:prstGeom>
          <a:solidFill>
            <a:srgbClr val="1C2440"/>
          </a:solidFill>
          <a:ln w="6350">
            <a:solidFill>
              <a:srgbClr val="2A33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80360" y="1508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Content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20840" y="15087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Lift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7772400" cy="777240"/>
          </a:xfrm>
          <a:prstGeom prst="rect">
            <a:avLst/>
          </a:prstGeom>
          <a:solidFill>
            <a:srgbClr val="141A2E"/>
          </a:solidFill>
          <a:ln w="5080">
            <a:solidFill>
              <a:srgbClr val="2A33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116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workers &amp; insomniacs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20116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news &amp; talk loops (CNN, kykNET)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2199132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219913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7772400" cy="777240"/>
          </a:xfrm>
          <a:prstGeom prst="rect">
            <a:avLst/>
          </a:prstGeom>
          <a:solidFill>
            <a:srgbClr val="0A0E1A"/>
          </a:solidFill>
          <a:ln w="5080">
            <a:solidFill>
              <a:srgbClr val="2A33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889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fans (global events)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0360" y="27889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overseas fixtures: EPL, NBA, MLB (Supersport)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2976372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297637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7772400" cy="777240"/>
          </a:xfrm>
          <a:prstGeom prst="rect">
            <a:avLst/>
          </a:prstGeom>
          <a:solidFill>
            <a:srgbClr val="141A2E"/>
          </a:solidFill>
          <a:ln w="5080">
            <a:solidFill>
              <a:srgbClr val="2A33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5661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(18–25)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80360" y="35661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music video blocks (Channel O, Trace TV)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3753612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375361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7772400" cy="777240"/>
          </a:xfrm>
          <a:prstGeom prst="rect">
            <a:avLst/>
          </a:prstGeom>
          <a:solidFill>
            <a:srgbClr val="0A0E1A"/>
          </a:solidFill>
          <a:ln w="5080">
            <a:solidFill>
              <a:srgbClr val="2A33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3434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buffs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80360" y="43434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 classics &amp; marathons (M-Net, Africa Magic)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12280" y="4530852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453085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412480" y="1508760"/>
            <a:ext cx="3337560" cy="2560320"/>
          </a:xfrm>
          <a:prstGeom prst="roundRect">
            <a:avLst>
              <a:gd name="adj" fmla="val 3571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173736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PLANNED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0" y="2103120"/>
            <a:ext cx="2788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Auto-loop premium sports highlights from earlier in the day.
</a:t>
            </a:r>
            <a:r>
              <a:rPr lang="en-US" sz="12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“After Hours” zone</a:t>
            </a: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curated late-night programming for shift workers, students and night owls.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12480" y="4206240"/>
            <a:ext cx="3337560" cy="1874520"/>
          </a:xfrm>
          <a:prstGeom prst="roundRect">
            <a:avLst>
              <a:gd name="adj" fmla="val 4878"/>
            </a:avLst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4348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GOAL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86800" y="470916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+30%</a:t>
            </a:r>
            <a:endParaRPr lang="en-US" sz="5000" dirty="0"/>
          </a:p>
        </p:txBody>
      </p:sp>
      <p:sp>
        <p:nvSpPr>
          <p:cNvPr id="36" name="Text 34"/>
          <p:cNvSpPr/>
          <p:nvPr/>
        </p:nvSpPr>
        <p:spPr>
          <a:xfrm>
            <a:off x="8686800" y="55778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(00–05) consumption within 3 months.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CEO Presentation  •  Growing Subscription Base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09167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" cy="50292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 ·  FIVE BETS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Initiatives to Grow the User Base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" y="150876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" y="1508760"/>
            <a:ext cx="3703320" cy="73152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7373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30936" y="2286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 Expansion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" y="2834640"/>
            <a:ext cx="457200" cy="0"/>
          </a:xfrm>
          <a:prstGeom prst="line">
            <a:avLst/>
          </a:prstGeom>
          <a:noFill/>
          <a:ln w="12700">
            <a:solidFill>
              <a:srgbClr val="FF6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9260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Localised marketing in Limpopo, Mpumalanga, NC, FS. Free weekend trials. Shift 15% of marketing spend.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42816" y="150876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42816" y="1508760"/>
            <a:ext cx="3703320" cy="73152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17373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17136" y="2286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Female Subscribers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17136" y="2834640"/>
            <a:ext cx="457200" cy="0"/>
          </a:xfrm>
          <a:prstGeom prst="line">
            <a:avLst/>
          </a:prstGeom>
          <a:noFill/>
          <a:ln w="12700">
            <a:solidFill>
              <a:srgbClr val="F5C2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7136" y="29260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lifestyle, drama and reality lineups. Partner with local female influencers. Target +40% female sign-ups in Q2.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29016" y="150876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9016" y="1508760"/>
            <a:ext cx="3703320" cy="73152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3336" y="17373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403336" y="2286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Unknown Profiles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03336" y="2834640"/>
            <a:ext cx="457200" cy="0"/>
          </a:xfrm>
          <a:prstGeom prst="line">
            <a:avLst/>
          </a:prstGeom>
          <a:noFill/>
          <a:ln w="12700">
            <a:solidFill>
              <a:srgbClr val="4F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3336" y="29260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Incentivise profile completion (e.g., one-month free premium sports). Better personalisation → higher retention.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99716" y="388620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99716" y="3886200"/>
            <a:ext cx="3703320" cy="73152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4036" y="41148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574036" y="46634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Sports as Acquisition Engine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574036" y="5212080"/>
            <a:ext cx="457200" cy="0"/>
          </a:xfrm>
          <a:prstGeom prst="line">
            <a:avLst/>
          </a:prstGeom>
          <a:noFill/>
          <a:ln w="12700">
            <a:solidFill>
              <a:srgbClr val="FF6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74036" y="53035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rights for soccer &amp; rugby. Sports-only entry packs. Target +50% new subs during major events.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85916" y="388620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5916" y="3886200"/>
            <a:ext cx="3703320" cy="73152"/>
          </a:xfrm>
          <a:prstGeom prst="rect">
            <a:avLst/>
          </a:prstGeom>
          <a:solidFill>
            <a:srgbClr val="6FA8F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60236" y="41148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F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460236" y="46634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Overnight Activation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60236" y="5212080"/>
            <a:ext cx="457200" cy="0"/>
          </a:xfrm>
          <a:prstGeom prst="line">
            <a:avLst/>
          </a:prstGeom>
          <a:noFill/>
          <a:ln w="12700">
            <a:solidFill>
              <a:srgbClr val="6FA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0236" y="53035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“After Hours” block 00:00–05:00. Late-night sports, music &amp; movies. Push notifications to night-active users.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CEO Presentation  •  Growing Subscription Base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9167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" cy="50292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 ·  NEXT 3 MONTHS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" y="1508760"/>
            <a:ext cx="3703320" cy="502920"/>
          </a:xfrm>
          <a:prstGeom prst="roundRect">
            <a:avLst>
              <a:gd name="adj" fmla="val 14545"/>
            </a:avLst>
          </a:prstGeom>
          <a:solidFill>
            <a:srgbClr val="1C2440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5087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" y="2148840"/>
            <a:ext cx="3703320" cy="1554480"/>
          </a:xfrm>
          <a:prstGeom prst="roundRect">
            <a:avLst>
              <a:gd name="adj" fmla="val 4706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“After Hours” overnight pilot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" y="2788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</a:t>
            </a: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CVM Team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" y="3154680"/>
            <a:ext cx="3154680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22783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1200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00–05 consumption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" y="3840480"/>
            <a:ext cx="3703320" cy="1554480"/>
          </a:xfrm>
          <a:prstGeom prst="roundRect">
            <a:avLst>
              <a:gd name="adj" fmla="val 4706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4023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completion campaign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" y="4480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</a:t>
            </a: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" y="4846320"/>
            <a:ext cx="3154680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491947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1200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2.6% → 1%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42816" y="1508760"/>
            <a:ext cx="3703320" cy="502920"/>
          </a:xfrm>
          <a:prstGeom prst="roundRect">
            <a:avLst>
              <a:gd name="adj" fmla="val 14545"/>
            </a:avLst>
          </a:prstGeom>
          <a:solidFill>
            <a:srgbClr val="1C2440"/>
          </a:solidFill>
          <a:ln w="12700">
            <a:solidFill>
              <a:srgbClr val="F5C2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42816" y="15087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42816" y="2148840"/>
            <a:ext cx="3703320" cy="1554480"/>
          </a:xfrm>
          <a:prstGeom prst="roundRect">
            <a:avLst>
              <a:gd name="adj" fmla="val 4706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7136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marketing — LP &amp; MP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17136" y="2788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</a:t>
            </a: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17136" y="3154680"/>
            <a:ext cx="3154680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17136" y="322783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1200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+5k new subs each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42816" y="3840480"/>
            <a:ext cx="3703320" cy="1554480"/>
          </a:xfrm>
          <a:prstGeom prst="roundRect">
            <a:avLst>
              <a:gd name="adj" fmla="val 4706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17136" y="4023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Female-targeted content launch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17136" y="4480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</a:t>
            </a: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Team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17136" y="4846320"/>
            <a:ext cx="3154680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17136" y="491947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1200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sign-ups +20%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29016" y="1508760"/>
            <a:ext cx="3703320" cy="502920"/>
          </a:xfrm>
          <a:prstGeom prst="roundRect">
            <a:avLst>
              <a:gd name="adj" fmla="val 14545"/>
            </a:avLst>
          </a:prstGeom>
          <a:solidFill>
            <a:srgbClr val="1C2440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29016" y="15087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129016" y="2148840"/>
            <a:ext cx="3703320" cy="1554480"/>
          </a:xfrm>
          <a:prstGeom prst="roundRect">
            <a:avLst>
              <a:gd name="adj" fmla="val 4706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03336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Sports-only pack pilot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03336" y="2788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</a:t>
            </a: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03336" y="3154680"/>
            <a:ext cx="3154680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03336" y="322783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1200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pilot subscribers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29016" y="3840480"/>
            <a:ext cx="3703320" cy="1554480"/>
          </a:xfrm>
          <a:prstGeom prst="roundRect">
            <a:avLst>
              <a:gd name="adj" fmla="val 4706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03336" y="4023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 &amp; scale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03336" y="4480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</a:t>
            </a:r>
            <a:r>
              <a:rPr lang="en-US" sz="12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Office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403336" y="4846320"/>
            <a:ext cx="3154680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03336" y="491947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1200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full rollout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66928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C2440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669280"/>
            <a:ext cx="10908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IMPACT  </a:t>
            </a:r>
            <a:r>
              <a:rPr lang="en-US" sz="18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25,000 – 35,000 </a:t>
            </a:r>
            <a:r>
              <a:rPr lang="en-US" sz="13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subscribers within 3 months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CEO Presentation  •  Growing Subscription Base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09167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" cy="50292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 ·  WRAP-UP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 and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 NOTED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caveats for the board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548640" cy="0"/>
          </a:xfrm>
          <a:prstGeom prst="line">
            <a:avLst/>
          </a:prstGeom>
          <a:noFill/>
          <a:ln w="19050">
            <a:solidFill>
              <a:srgbClr val="FF6B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880360"/>
            <a:ext cx="292608" cy="292608"/>
          </a:xfrm>
          <a:prstGeom prst="ellipse">
            <a:avLst/>
          </a:prstGeom>
          <a:solidFill>
            <a:srgbClr val="1C2440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" y="2962656"/>
            <a:ext cx="128016" cy="128016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8346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1272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only covers Jan–Mar 2016 — seasonal effects may exist.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749040"/>
            <a:ext cx="292608" cy="292608"/>
          </a:xfrm>
          <a:prstGeom prst="ellipse">
            <a:avLst/>
          </a:prstGeom>
          <a:solidFill>
            <a:srgbClr val="1C2440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" y="3831336"/>
            <a:ext cx="128016" cy="128016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7033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9959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users may bias age and gender insights.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617720"/>
            <a:ext cx="292608" cy="292608"/>
          </a:xfrm>
          <a:prstGeom prst="ellipse">
            <a:avLst/>
          </a:prstGeom>
          <a:solidFill>
            <a:srgbClr val="1C2440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" y="4700016"/>
            <a:ext cx="128016" cy="128016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457200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48646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churn or cancellation data — partner with CVM for analysis.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5577840"/>
            <a:ext cx="4754880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6692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 dashboard with daily consumption heatmaps and demographic segmentation will be delivered within one week.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508760"/>
            <a:ext cx="5577840" cy="4846320"/>
          </a:xfrm>
          <a:prstGeom prst="roundRect">
            <a:avLst>
              <a:gd name="adj" fmla="val 1887"/>
            </a:avLst>
          </a:prstGeom>
          <a:solidFill>
            <a:srgbClr val="141A2E"/>
          </a:solidFill>
          <a:ln w="9525">
            <a:solidFill>
              <a:srgbClr val="2A3354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0" y="1645920"/>
            <a:ext cx="5303520" cy="141732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309360" y="1645920"/>
            <a:ext cx="5303520" cy="141732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537960" y="1874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537960" y="2148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you today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6537960" y="3337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3796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7178040" y="3383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“After Hours” overnight pilot (00:00–05:00).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537960" y="4114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379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178040" y="4160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budget for regional marketing in LP &amp; MP.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537960" y="4892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3796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7178040" y="49377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content team to acquire two female-focused shows.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37960" y="5715000"/>
            <a:ext cx="4846320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37960" y="5806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C0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Questions?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2A335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CEO Presentation  •  Growing Subscription Base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109167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1068</Words>
  <Application>Microsoft Office PowerPoint</Application>
  <PresentationFormat>Widescreen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CEO Presentation</dc:title>
  <dc:subject>PptxGenJS Presentation</dc:subject>
  <dc:creator>PptxGenJS</dc:creator>
  <cp:lastModifiedBy>Bra Vin D</cp:lastModifiedBy>
  <cp:revision>4</cp:revision>
  <dcterms:created xsi:type="dcterms:W3CDTF">2026-04-19T06:16:50Z</dcterms:created>
  <dcterms:modified xsi:type="dcterms:W3CDTF">2026-04-19T15:47:54Z</dcterms:modified>
</cp:coreProperties>
</file>